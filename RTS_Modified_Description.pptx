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C477-BA3C-E805-3B72-9A3DAB5E6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C0F99-DB0E-5514-C014-5B183313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4B73-5722-E5D6-B383-9B826D2C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DE323-B0C6-FF7E-EFCF-5DF03B72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867D3-1C37-C304-522B-506DD4AB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E6F0-765E-2A50-ED5C-6FF68DBE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6D93-0713-3BE6-1CD3-1475EDC8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9402C-5743-CCD3-3651-F73AB919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0EE0-84E9-BC0B-7955-F484DC3D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2861-C995-E4EA-154A-BC4D2023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9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2095-2178-CCD7-1B90-085BC8B3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E8FC7-9EE4-1955-F6FC-7258EB75A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EB0A7-A1AE-06E4-112D-921DBC89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C576E-C034-72C6-C665-10712A66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78A34-B898-04FE-180F-93B6B927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3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0096-8D53-F874-691E-7FF7649F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29F0-5923-FB0C-1246-0F3AC5D20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4B883-3D4B-F8F0-0505-FA485059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30C98-2FBF-7D32-5985-80758E8B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65544-01F4-2528-47E4-5DD9981A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03663-A240-C98A-2D92-D6D18F6A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9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1228-EFE9-806E-8C73-453012DF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49F5D-47D7-D1D2-535B-55706453D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44D3B-67E2-DC9F-6472-EC9E5D48B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3F569-BA7C-80FB-AD4A-3D7722EBB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E6BF3-EF1D-1736-CFBF-846286F3C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309E9-C800-44A5-801C-B197F276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B7F484-19DB-9971-794F-E8DEB4EB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9ED8A-A937-3D4A-4138-301E46BC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8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4471-4AA5-235E-0A98-76D8A3DB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0F1EC-3E57-2B84-CE95-6656A9BD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9B62D-57BF-DE67-AA02-14F0BECE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77465-04D0-FF02-8C59-CA05AAD4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3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91FCD-E702-284B-C8C1-D2FD5EC9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991E7-FA7F-538E-97A8-129C82A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157CD-97B9-7E35-14DF-F0B3AF47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5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850A4-BC52-61D4-8D24-809139B0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60176-7E44-5B8C-DF1E-0EADF299F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D230C-2B90-B5C3-9145-355C7CD9E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CC97B-CDC1-0105-A067-C99E474C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1052E-1B8C-7FCC-0A24-12F91D27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B98B4-763E-30B1-0A9E-2D07F30A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91EA-B208-1A2B-5C8B-4CE52897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CF3DA-F227-9498-FEB1-7977F0DE3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DCB17-122B-9312-5BAC-C67109784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18883-BFDE-045A-12E6-283BE2AB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9DC3A-8B6D-32F8-F133-58AD55E8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DDB9-A4CE-DEC1-ADE0-D8D1268F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6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FED4-2344-3635-EF21-2C870512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7D27E-DDD6-BCF2-4421-BB8FFD2D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535DB-C3B9-D41A-09D1-2DCB4A0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9ABF-5970-94F4-9F2D-945D4534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C9F75-D82B-E5F2-0F6A-B1A6EAB1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49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962A2-87D6-ECDE-453F-35E89CE41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9BFB7-33FE-F560-D021-7933E519E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22837-627A-9512-69BC-D476AE76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8E56B-75B7-A021-2043-001DB084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AD49-816E-0826-C8FB-A4155282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7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D86B2-D8BA-8769-A990-A382590C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11335-678A-46FF-3C89-00FC18E3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B0A42-9BA9-E880-D3CC-A3F9F146B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0B857-DC96-48A5-9DBE-5084EF6D952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D0577-F639-6F81-C022-CF11B30D9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BDDCF-F220-39A4-D7F4-505D15235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9272-5040-4AD5-B1B0-7369E2982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E056-6835-BD17-56C3-79F5BECE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Synchronous machines</a:t>
            </a:r>
          </a:p>
        </p:txBody>
      </p:sp>
    </p:spTree>
    <p:extLst>
      <p:ext uri="{BB962C8B-B14F-4D97-AF65-F5344CB8AC3E}">
        <p14:creationId xmlns:p14="http://schemas.microsoft.com/office/powerpoint/2010/main" val="320924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0F262F-6DCB-77BA-EFA3-ED2652183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78844"/>
              </p:ext>
            </p:extLst>
          </p:nvPr>
        </p:nvGraphicFramePr>
        <p:xfrm>
          <a:off x="926801" y="2713654"/>
          <a:ext cx="2463800" cy="2346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642418329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8812316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Exciter - SCRX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75607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3381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TA/TB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29473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TB (&gt;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715703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71087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369013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14299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01350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CSWITCH (0=busfed, 1=solidfed)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3844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rc</a:t>
                      </a:r>
                      <a:r>
                        <a:rPr lang="en-US" sz="1100" u="none" strike="noStrike" dirty="0">
                          <a:effectLst/>
                        </a:rPr>
                        <a:t>/</a:t>
                      </a:r>
                      <a:r>
                        <a:rPr lang="en-US" sz="1100" u="none" strike="noStrike" dirty="0" err="1">
                          <a:effectLst/>
                        </a:rPr>
                        <a:t>rfd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1306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1D4D28C-7411-6E05-B249-7C5A2364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428" y="2720748"/>
            <a:ext cx="8403149" cy="23398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352AEF-8D87-3F97-1738-EB13D99942DA}"/>
              </a:ext>
            </a:extLst>
          </p:cNvPr>
          <p:cNvSpPr txBox="1"/>
          <p:nvPr/>
        </p:nvSpPr>
        <p:spPr>
          <a:xfrm>
            <a:off x="869753" y="1197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Bus Fed or Solid Fed Static Exciter</a:t>
            </a:r>
          </a:p>
        </p:txBody>
      </p:sp>
    </p:spTree>
    <p:extLst>
      <p:ext uri="{BB962C8B-B14F-4D97-AF65-F5344CB8AC3E}">
        <p14:creationId xmlns:p14="http://schemas.microsoft.com/office/powerpoint/2010/main" val="315725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97A44-AA9A-04AB-86D0-98FF1894D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382148"/>
              </p:ext>
            </p:extLst>
          </p:nvPr>
        </p:nvGraphicFramePr>
        <p:xfrm>
          <a:off x="895872" y="2618777"/>
          <a:ext cx="1899879" cy="184601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76867">
                  <a:extLst>
                    <a:ext uri="{9D8B030D-6E8A-4147-A177-3AD203B41FA5}">
                      <a16:colId xmlns:a16="http://schemas.microsoft.com/office/drawing/2014/main" val="2461318501"/>
                    </a:ext>
                  </a:extLst>
                </a:gridCol>
                <a:gridCol w="1023012">
                  <a:extLst>
                    <a:ext uri="{9D8B030D-6E8A-4147-A177-3AD203B41FA5}">
                      <a16:colId xmlns:a16="http://schemas.microsoft.com/office/drawing/2014/main" val="2219279883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GOV -- TGOV1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699196"/>
                  </a:ext>
                </a:extLst>
              </a:tr>
              <a:tr h="3829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Value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895964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1877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T1 (&gt;0)(sec)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27790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 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4573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 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4507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T2 (sec)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78835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T3 (&gt;0)(sec)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09507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80996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B600FB-A296-B36F-962A-AFB4057D9E9F}"/>
              </a:ext>
            </a:extLst>
          </p:cNvPr>
          <p:cNvSpPr txBox="1"/>
          <p:nvPr/>
        </p:nvSpPr>
        <p:spPr>
          <a:xfrm>
            <a:off x="895873" y="123954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Steam Turbine-Governor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39D4D8-0652-68DA-FE51-D0AEC419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274" y="1920793"/>
            <a:ext cx="8623038" cy="301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2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6FF41F-D90F-D442-A16A-5B9393735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454755"/>
              </p:ext>
            </p:extLst>
          </p:nvPr>
        </p:nvGraphicFramePr>
        <p:xfrm>
          <a:off x="393326" y="2558621"/>
          <a:ext cx="2476500" cy="25374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46371458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713818367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GOV -- GAST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85036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050104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 (Speed Droop)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389740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T1 (&gt;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35613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T2 (&gt;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3559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T3 (&gt;0)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31375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Ambient Temperature Load Limit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77318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468051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31662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69529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Dturb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675443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607F988-F817-83E7-40C1-F3F6432F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00" y="1827771"/>
            <a:ext cx="8173436" cy="43791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73190-48AA-0230-543D-876CC75D000E}"/>
              </a:ext>
            </a:extLst>
          </p:cNvPr>
          <p:cNvSpPr txBox="1"/>
          <p:nvPr/>
        </p:nvSpPr>
        <p:spPr>
          <a:xfrm>
            <a:off x="393326" y="10923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Gas Turbine-Governor</a:t>
            </a:r>
          </a:p>
        </p:txBody>
      </p:sp>
    </p:spTree>
    <p:extLst>
      <p:ext uri="{BB962C8B-B14F-4D97-AF65-F5344CB8AC3E}">
        <p14:creationId xmlns:p14="http://schemas.microsoft.com/office/powerpoint/2010/main" val="190482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167639-137E-0B7B-EDBB-30FE25944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77700"/>
              </p:ext>
            </p:extLst>
          </p:nvPr>
        </p:nvGraphicFramePr>
        <p:xfrm>
          <a:off x="113590" y="2047461"/>
          <a:ext cx="3974935" cy="38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9523">
                  <a:extLst>
                    <a:ext uri="{9D8B030D-6E8A-4147-A177-3AD203B41FA5}">
                      <a16:colId xmlns:a16="http://schemas.microsoft.com/office/drawing/2014/main" val="1172894165"/>
                    </a:ext>
                  </a:extLst>
                </a:gridCol>
                <a:gridCol w="3235412">
                  <a:extLst>
                    <a:ext uri="{9D8B030D-6E8A-4147-A177-3AD203B41FA5}">
                      <a16:colId xmlns:a16="http://schemas.microsoft.com/office/drawing/2014/main" val="239979392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PSS --PSS2A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54616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128358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TW1 (&gt;0) Washout Time constant - Signal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4530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TW2 Washout Time Constant - Signal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571683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T6  Lag Time Constant - Signal 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066274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TW3 (&gt;0) Washout Time Constant - Signal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3478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TW4 Washout Time Constant - Signal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7972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T7  Lag Time Constant - Signal 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751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KS2 Gain - Signal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814709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KS3 Gain - Signal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3372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T8  Ramp Tracking Filter Lead Time Constant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968292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T9  (&gt;0) Ramp Tracking Filter Lag Time Constant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50484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KS1 Stabilizer Gain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41072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T1  Lead Time Constant - Phase Comp. Block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35763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T2  Lag Time Constant  - Phase Comp. Block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17858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T3  Lead Time Constant - Phase Comp. Block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58895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T4  Lag Time Constant  - Phase Comp. Block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61375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VSTMAX Stabilizer Output Maximum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88751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VSTMIN Stabilizer Output Minimum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24547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0D15A3B-6937-BFB7-D2F9-47BC83A0B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266" y="2701159"/>
            <a:ext cx="7820144" cy="3072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42123-B13F-E1BE-433A-80E455567B72}"/>
              </a:ext>
            </a:extLst>
          </p:cNvPr>
          <p:cNvSpPr txBox="1"/>
          <p:nvPr/>
        </p:nvSpPr>
        <p:spPr>
          <a:xfrm>
            <a:off x="113590" y="10839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IEEE Dual-Input Stabilizer Model</a:t>
            </a:r>
          </a:p>
        </p:txBody>
      </p:sp>
    </p:spTree>
    <p:extLst>
      <p:ext uri="{BB962C8B-B14F-4D97-AF65-F5344CB8AC3E}">
        <p14:creationId xmlns:p14="http://schemas.microsoft.com/office/powerpoint/2010/main" val="97462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D7FF-2484-0032-5070-C83AF7E4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81FE-8099-CD8C-F3EC-DEFB8858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Inverter based resources</a:t>
            </a:r>
          </a:p>
        </p:txBody>
      </p:sp>
    </p:spTree>
    <p:extLst>
      <p:ext uri="{BB962C8B-B14F-4D97-AF65-F5344CB8AC3E}">
        <p14:creationId xmlns:p14="http://schemas.microsoft.com/office/powerpoint/2010/main" val="13270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63C4B9-2627-26DE-357D-0319D3F6A2F8}"/>
              </a:ext>
            </a:extLst>
          </p:cNvPr>
          <p:cNvSpPr txBox="1"/>
          <p:nvPr/>
        </p:nvSpPr>
        <p:spPr>
          <a:xfrm>
            <a:off x="578069" y="7875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Renewable Energy Generator/Converter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C9F23-67F5-C507-E828-D1071E3B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05" y="1699218"/>
            <a:ext cx="5854237" cy="437124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383088-E8DC-1572-591C-45D8D47A0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216927"/>
              </p:ext>
            </p:extLst>
          </p:nvPr>
        </p:nvGraphicFramePr>
        <p:xfrm>
          <a:off x="402020" y="1998888"/>
          <a:ext cx="4724400" cy="37719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3700">
                  <a:extLst>
                    <a:ext uri="{9D8B030D-6E8A-4147-A177-3AD203B41FA5}">
                      <a16:colId xmlns:a16="http://schemas.microsoft.com/office/drawing/2014/main" val="3502454029"/>
                    </a:ext>
                  </a:extLst>
                </a:gridCol>
                <a:gridCol w="4330700">
                  <a:extLst>
                    <a:ext uri="{9D8B030D-6E8A-4147-A177-3AD203B41FA5}">
                      <a16:colId xmlns:a16="http://schemas.microsoft.com/office/drawing/2014/main" val="4230186475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Generator - REGCA1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7027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Value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47478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Tg, Converter time constant, second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02356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Rrpwr, LVPL ramp rate limit (pu/s)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68064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Brkpt, LVPL voltage 2 (pu)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92081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Zerox, LVPL voltage 1 (pu)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31859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Lvpl1, LVPL gail (pu)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15517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Volim, Voltage limit for High Voltage Reactive Current Management, pu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0529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Lvpnt1, High Voltage point for Low Voltage Active Current Management, </a:t>
                      </a:r>
                      <a:r>
                        <a:rPr lang="en-US" sz="1100" u="none" strike="noStrike" dirty="0" err="1">
                          <a:effectLst/>
                        </a:rPr>
                        <a:t>pu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37906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Lvpnt0, Low Voltage point for Low Voltage Active Current Management, pu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262369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Iolim, Current limit for HVRCM, pu (&lt; 0)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41593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Tfltr, Voltage filter time constant for LVRCM (s)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4643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Khv, Overvoltage compensation gain used in HVRCM (&gt;=0 and &lt; 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60631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Iqrmax, Upper limit on Rate of change for  reactive curent (pu/s)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08084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Iqrmin, Lower limit on Rate of change for  reactive curent (pu/s)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87946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Accel, Acc. factor for smoothing out voltage &amp; angle calculations (&gt;0 and &lt;=1)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93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85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0843D8-8D90-47C2-75AE-E5069C1BB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725119"/>
              </p:ext>
            </p:extLst>
          </p:nvPr>
        </p:nvGraphicFramePr>
        <p:xfrm>
          <a:off x="167288" y="1834282"/>
          <a:ext cx="4583388" cy="47732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56741">
                  <a:extLst>
                    <a:ext uri="{9D8B030D-6E8A-4147-A177-3AD203B41FA5}">
                      <a16:colId xmlns:a16="http://schemas.microsoft.com/office/drawing/2014/main" val="2863095875"/>
                    </a:ext>
                  </a:extLst>
                </a:gridCol>
                <a:gridCol w="4026647">
                  <a:extLst>
                    <a:ext uri="{9D8B030D-6E8A-4147-A177-3AD203B41FA5}">
                      <a16:colId xmlns:a16="http://schemas.microsoft.com/office/drawing/2014/main" val="2083221312"/>
                    </a:ext>
                  </a:extLst>
                </a:gridCol>
              </a:tblGrid>
              <a:tr h="150046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Electrical control -- REECB1</a:t>
                      </a:r>
                      <a:endParaRPr lang="en-US" sz="105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428824"/>
                  </a:ext>
                </a:extLst>
              </a:tr>
              <a:tr h="45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Con</a:t>
                      </a:r>
                      <a:br>
                        <a:rPr lang="en-US" sz="1050" u="none" strike="noStrike">
                          <a:effectLst/>
                        </a:rPr>
                      </a:br>
                      <a:r>
                        <a:rPr lang="en-US" sz="1050" u="none" strike="noStrike">
                          <a:effectLst/>
                        </a:rPr>
                        <a:t>Value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Con</a:t>
                      </a:r>
                      <a:br>
                        <a:rPr lang="en-US" sz="1050" u="none" strike="noStrike">
                          <a:effectLst/>
                        </a:rPr>
                      </a:br>
                      <a:r>
                        <a:rPr lang="en-US" sz="1050" u="none" strike="noStrike">
                          <a:effectLst/>
                        </a:rPr>
                        <a:t>Description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ctr"/>
                </a:tc>
                <a:extLst>
                  <a:ext uri="{0D108BD9-81ED-4DB2-BD59-A6C34878D82A}">
                    <a16:rowId xmlns:a16="http://schemas.microsoft.com/office/drawing/2014/main" val="2647004767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-99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Vdip (pu), low voltage threshold for reactive current injection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873491474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99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Vup (pu), high voltage threshold for reactive current injection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409360428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0.02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Trv (s), Voltage filter time constant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597143364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dbd1 (pu), Voltage error dead band lower threshold (&lt;=0)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976283932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dbd2 (pu), Voltage error dead band upper threshold (&gt;=0)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103255316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Kqv (pu), Reactive current injection gain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383712801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1.1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Iqhl (pu), Upper limit on reactive current injection Iqinj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693459519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-1.1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Iqll (pu), Lower limit on reactive current injection Iqinj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509982634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Vref0 (pu), User defined reference (if 0, initialized by model)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660672188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Tp (s), Filter time constant for electrical power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004510157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0.44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QMax (pu), limit for reactive power regulator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4093908057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-0.44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QMin (pu) limit for reactive power regulator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794636376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1.05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50" u="none" strike="noStrike">
                          <a:effectLst/>
                        </a:rPr>
                        <a:t>VMAX (pu), Max. limit for voltage control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61228887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VMIN (pu), Min. limit for voltage control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4118005782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Kqp (pu), Reactive power regulator proportional gain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145879630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Kqi (pu), Reactive power regulator integral gain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436474435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Kvp (pu), Voltage regulator proportional gain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698355250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60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Kvi (pu), Voltage regulator integral gain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453858100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0.02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Tiq (s), Time constant on delay s4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553846034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99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dPmax (pu/s) (&gt;0) Power reference max. ramprate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351974675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-99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dPmin (pu/s) (&lt;0) Power reference min. ramprate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705721271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50" u="none" strike="noStrike">
                          <a:effectLst/>
                        </a:rPr>
                        <a:t>PMAX (pu), Max. power limit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611504700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PMIN (pu), Min. power limit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283142439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1.11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50" u="none" strike="noStrike">
                          <a:effectLst/>
                        </a:rPr>
                        <a:t>Imax (pu), Maximum allowable total converter current limit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60517501"/>
                  </a:ext>
                </a:extLst>
              </a:tr>
              <a:tr h="1500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50" u="none" strike="noStrike">
                          <a:effectLst/>
                        </a:rPr>
                        <a:t>0.02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u="none" strike="noStrike" dirty="0" err="1">
                          <a:effectLst/>
                        </a:rPr>
                        <a:t>Tpord</a:t>
                      </a:r>
                      <a:r>
                        <a:rPr lang="en-US" sz="1050" u="none" strike="noStrike" dirty="0">
                          <a:effectLst/>
                        </a:rPr>
                        <a:t> (s), Power filter time constant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4898168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97D3A8-B790-C98D-2FEC-BA16766C16D3}"/>
              </a:ext>
            </a:extLst>
          </p:cNvPr>
          <p:cNvSpPr txBox="1"/>
          <p:nvPr/>
        </p:nvSpPr>
        <p:spPr>
          <a:xfrm>
            <a:off x="472088" y="4827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Electrical Control Model for Large Scale PV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8FC01-04C3-27DA-243C-023B7C50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3" r="12919"/>
          <a:stretch>
            <a:fillRect/>
          </a:stretch>
        </p:blipFill>
        <p:spPr>
          <a:xfrm>
            <a:off x="4964102" y="1174866"/>
            <a:ext cx="6663559" cy="553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2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84339A-F567-5B5D-7615-AFC3F091C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763755"/>
              </p:ext>
            </p:extLst>
          </p:nvPr>
        </p:nvGraphicFramePr>
        <p:xfrm>
          <a:off x="301679" y="2024192"/>
          <a:ext cx="4438485" cy="43513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13969">
                  <a:extLst>
                    <a:ext uri="{9D8B030D-6E8A-4147-A177-3AD203B41FA5}">
                      <a16:colId xmlns:a16="http://schemas.microsoft.com/office/drawing/2014/main" val="752442505"/>
                    </a:ext>
                  </a:extLst>
                </a:gridCol>
                <a:gridCol w="3824516">
                  <a:extLst>
                    <a:ext uri="{9D8B030D-6E8A-4147-A177-3AD203B41FA5}">
                      <a16:colId xmlns:a16="http://schemas.microsoft.com/office/drawing/2014/main" val="386377736"/>
                    </a:ext>
                  </a:extLst>
                </a:gridCol>
              </a:tblGrid>
              <a:tr h="14504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Electrical control -- REPCA1</a:t>
                      </a: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1370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Value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</a:t>
                      </a:r>
                      <a:br>
                        <a:rPr lang="en-US" sz="900" u="none" strike="noStrike">
                          <a:effectLst/>
                        </a:rPr>
                      </a:br>
                      <a:r>
                        <a:rPr lang="en-US" sz="900" u="none" strike="noStrike">
                          <a:effectLst/>
                        </a:rPr>
                        <a:t>Description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224276900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Tfltr, Voltage or reactive power measurement filter time constant (s)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199173963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Kp, Reactive power PI control proportional gain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17376009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Ki, Reactive power PI control integral gain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429055308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Tft, Lead time constant (s)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12026173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Tfv, Lag time constant (s)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79544066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Vfrz, Voltage below which State s2 is frozen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08948872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Rc, Line drop compensation resistance (pu)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8464311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Xc, Line drop compensation reactance (pu)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89278980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Kc, Reactive current compensation gain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29873382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emax, upper limit on deadband output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42322315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emin, lower limit on deadband output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83865544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dbd1, lower threshold for reactive power control deadband (&lt;=0)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30193504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dbd2, upper threshold for reactive power control deadband (&gt;=0)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915726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Qmax, Upper limit on output of V/Q control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11699015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-0.43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Qmin, Lower limit on output of V/Q control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407469862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Kpg, Proportional gain for power control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181263895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Kig, Integral gain for power control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34028093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Tp, Real power measurement filter time constant (s)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144410532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fdbd1, Deadband for frequency control, lower threshold (&lt;=0)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58431195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fdbd2, Deadband for frequency control, upper threshold (&gt;=0)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69052488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femax, frequency error upper limit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51676173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-99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femin, frequency error lower limit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80545766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Pmax, upper limit on power reference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95708009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Pmin, lower limit on power reference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8721013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Tg, Power Controller lag time constant (s)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351499703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Ddn, droop for over-frequency conditions (pu)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175477899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Dup, droop for under-frequency conditions (</a:t>
                      </a:r>
                      <a:r>
                        <a:rPr lang="en-US" sz="900" u="none" strike="noStrike" dirty="0" err="1">
                          <a:effectLst/>
                        </a:rPr>
                        <a:t>pu</a:t>
                      </a:r>
                      <a:r>
                        <a:rPr lang="en-US" sz="900" u="none" strike="noStrike" dirty="0">
                          <a:effectLst/>
                        </a:rPr>
                        <a:t>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4" marR="6044" marT="6044" marB="0" anchor="b"/>
                </a:tc>
                <a:extLst>
                  <a:ext uri="{0D108BD9-81ED-4DB2-BD59-A6C34878D82A}">
                    <a16:rowId xmlns:a16="http://schemas.microsoft.com/office/drawing/2014/main" val="27412398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BC4D07-D7C1-C218-D4EA-CEDD79E80BA8}"/>
              </a:ext>
            </a:extLst>
          </p:cNvPr>
          <p:cNvSpPr txBox="1"/>
          <p:nvPr/>
        </p:nvSpPr>
        <p:spPr>
          <a:xfrm>
            <a:off x="648521" y="6824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Generic Renewable Plant Control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09697-BBEE-40CB-E857-7B441010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52" y="2711669"/>
            <a:ext cx="6976213" cy="329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1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25DA-EEF5-CD43-1651-EA837660EA84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11880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B91FD-B699-0A09-6B10-7ECF0ABED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550"/>
            <a:ext cx="12192000" cy="56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2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DDFE-7344-67DA-78FB-F62B549C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EA61-A5DC-F36C-D406-0D7D2EAD48B3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Event: Trip line 5-7</a:t>
            </a:r>
          </a:p>
        </p:txBody>
      </p:sp>
    </p:spTree>
    <p:extLst>
      <p:ext uri="{BB962C8B-B14F-4D97-AF65-F5344CB8AC3E}">
        <p14:creationId xmlns:p14="http://schemas.microsoft.com/office/powerpoint/2010/main" val="2920466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779A5D-653E-2414-32F5-8B9AA098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745"/>
            <a:ext cx="12192000" cy="5674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6272C0-8399-D628-3701-2497C2AAC58F}"/>
              </a:ext>
            </a:extLst>
          </p:cNvPr>
          <p:cNvSpPr txBox="1"/>
          <p:nvPr/>
        </p:nvSpPr>
        <p:spPr>
          <a:xfrm>
            <a:off x="405245" y="155864"/>
            <a:ext cx="205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BUS2 voltage (</a:t>
            </a:r>
            <a:r>
              <a:rPr lang="en-US" dirty="0" err="1"/>
              <a:t>p.u</a:t>
            </a:r>
            <a:r>
              <a:rPr 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14250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1135</Words>
  <Application>Microsoft Office PowerPoint</Application>
  <PresentationFormat>Widescreen</PresentationFormat>
  <Paragraphs>247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Office Theme</vt:lpstr>
      <vt:lpstr>Synchronous machines</vt:lpstr>
      <vt:lpstr>PowerPoint Presentation</vt:lpstr>
      <vt:lpstr>PowerPoint Presentation</vt:lpstr>
      <vt:lpstr>PowerPoint Presentation</vt:lpstr>
      <vt:lpstr>PowerPoint Presentation</vt:lpstr>
      <vt:lpstr>Inverter based resources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Mola, Jorge Andres</dc:creator>
  <cp:lastModifiedBy>Mola, Jorge Andres</cp:lastModifiedBy>
  <cp:revision>4</cp:revision>
  <dcterms:created xsi:type="dcterms:W3CDTF">2025-10-02T16:49:06Z</dcterms:created>
  <dcterms:modified xsi:type="dcterms:W3CDTF">2025-10-02T18:26:29Z</dcterms:modified>
</cp:coreProperties>
</file>